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3" r:id="rId2"/>
    <p:sldId id="289" r:id="rId3"/>
    <p:sldId id="293" r:id="rId4"/>
    <p:sldId id="302" r:id="rId5"/>
    <p:sldId id="295" r:id="rId6"/>
    <p:sldId id="303" r:id="rId7"/>
    <p:sldId id="297" r:id="rId8"/>
    <p:sldId id="304" r:id="rId9"/>
    <p:sldId id="305" r:id="rId10"/>
    <p:sldId id="264" r:id="rId11"/>
  </p:sldIdLst>
  <p:sldSz cx="9144000" cy="6858000" type="screen4x3"/>
  <p:notesSz cx="7104063" cy="10234613"/>
  <p:custDataLst>
    <p:tags r:id="rId1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kern="1200">
        <a:solidFill>
          <a:schemeClr val="tx1"/>
        </a:solidFill>
        <a:latin typeface="Franklin Gothic Medium" panose="020B0603020102020204" charset="0"/>
        <a:ea typeface="微软雅黑" panose="020B0503020204020204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mile" initials="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81421"/>
    <a:srgbClr val="07111C"/>
    <a:srgbClr val="3B5D6A"/>
    <a:srgbClr val="315165"/>
    <a:srgbClr val="334D57"/>
    <a:srgbClr val="123050"/>
    <a:srgbClr val="163659"/>
    <a:srgbClr val="2B434D"/>
    <a:srgbClr val="23353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/>
    <p:restoredTop sz="94660"/>
  </p:normalViewPr>
  <p:slideViewPr>
    <p:cSldViewPr snapToGrid="0" showGuides="1">
      <p:cViewPr varScale="1">
        <p:scale>
          <a:sx n="70" d="100"/>
          <a:sy n="70" d="100"/>
        </p:scale>
        <p:origin x="-1368" y="-108"/>
      </p:cViewPr>
      <p:guideLst>
        <p:guide orient="horz" pos="219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1438" cy="7373143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pPr fontAlgn="auto"/>
            <a:fld id="{0F9B84EA-7D68-4D60-9CB1-D50884785D1C}" type="datetimeFigureOut">
              <a:rPr lang="zh-CN" altLang="en-US" sz="1245" strike="noStrike" noProof="1" smtClean="0">
                <a:latin typeface="+mn-lt"/>
                <a:ea typeface="+mn-ea"/>
                <a:cs typeface="+mn-cs"/>
              </a:rPr>
              <a:pPr fontAlgn="auto"/>
              <a:t>2021/5/7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pPr fontAlgn="auto"/>
            <a:fld id="{8D4E0FC9-F1F8-4FAE-9988-3BA365CFD46F}" type="slidenum">
              <a:rPr lang="zh-CN" altLang="en-US" sz="1245" strike="noStrike" noProof="1" smtClean="0">
                <a:latin typeface="+mn-lt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2A48B96-639E-45A3-A0BA-2464DFDB1FA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2021/5/7</a:t>
            </a:fld>
            <a:endParaRPr lang="zh-CN" altLang="en-US" strike="noStrike" noProof="1"/>
          </a:p>
        </p:txBody>
      </p:sp>
      <p:sp>
        <p:nvSpPr>
          <p:cNvPr id="9220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21" name="备注占位符 4"/>
          <p:cNvSpPr>
            <a:spLocks noGrp="1"/>
          </p:cNvSpPr>
          <p:nvPr>
            <p:ph type="body" sz="quarter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A6837353-30EB-4A48-80EB-173D804AEFBD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 userDrawn="1"/>
        </p:nvSpPr>
        <p:spPr>
          <a:xfrm>
            <a:off x="0" y="-2540"/>
            <a:ext cx="9144635" cy="6863715"/>
          </a:xfrm>
          <a:custGeom>
            <a:avLst/>
            <a:gdLst>
              <a:gd name="connsiteX0" fmla="*/ 3 w 14401"/>
              <a:gd name="connsiteY0" fmla="*/ 4 h 10809"/>
              <a:gd name="connsiteX1" fmla="*/ 14401 w 14401"/>
              <a:gd name="connsiteY1" fmla="*/ 0 h 10809"/>
              <a:gd name="connsiteX2" fmla="*/ 14398 w 14401"/>
              <a:gd name="connsiteY2" fmla="*/ 7020 h 10809"/>
              <a:gd name="connsiteX3" fmla="*/ 4316 w 14401"/>
              <a:gd name="connsiteY3" fmla="*/ 10805 h 10809"/>
              <a:gd name="connsiteX4" fmla="*/ 0 w 14401"/>
              <a:gd name="connsiteY4" fmla="*/ 10809 h 10809"/>
              <a:gd name="connsiteX5" fmla="*/ 3 w 14401"/>
              <a:gd name="connsiteY5" fmla="*/ 4 h 10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01" h="10809">
                <a:moveTo>
                  <a:pt x="3" y="4"/>
                </a:moveTo>
                <a:lnTo>
                  <a:pt x="14401" y="0"/>
                </a:lnTo>
                <a:lnTo>
                  <a:pt x="14398" y="7020"/>
                </a:lnTo>
                <a:lnTo>
                  <a:pt x="4316" y="10805"/>
                </a:lnTo>
                <a:lnTo>
                  <a:pt x="0" y="10809"/>
                </a:lnTo>
                <a:lnTo>
                  <a:pt x="3" y="4"/>
                </a:lnTo>
                <a:close/>
              </a:path>
            </a:pathLst>
          </a:custGeom>
          <a:blipFill rotWithShape="1">
            <a:blip r:embed="rId2" cstate="print"/>
            <a:stretch>
              <a:fillRect/>
            </a:stretch>
          </a:blip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01" name="图片 21" descr="未标题-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649155" y="5776860"/>
            <a:ext cx="1283473" cy="92484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任意多边形 6"/>
          <p:cNvSpPr/>
          <p:nvPr userDrawn="1"/>
        </p:nvSpPr>
        <p:spPr>
          <a:xfrm>
            <a:off x="-5080" y="-2540"/>
            <a:ext cx="8677910" cy="5492750"/>
          </a:xfrm>
          <a:custGeom>
            <a:avLst/>
            <a:gdLst>
              <a:gd name="connsiteX0" fmla="*/ 8 w 13666"/>
              <a:gd name="connsiteY0" fmla="*/ 7 h 8650"/>
              <a:gd name="connsiteX1" fmla="*/ 4257 w 13666"/>
              <a:gd name="connsiteY1" fmla="*/ 0 h 8650"/>
              <a:gd name="connsiteX2" fmla="*/ 13666 w 13666"/>
              <a:gd name="connsiteY2" fmla="*/ 7295 h 8650"/>
              <a:gd name="connsiteX3" fmla="*/ 10080 w 13666"/>
              <a:gd name="connsiteY3" fmla="*/ 8642 h 8650"/>
              <a:gd name="connsiteX4" fmla="*/ 10080 w 13666"/>
              <a:gd name="connsiteY4" fmla="*/ 8650 h 8650"/>
              <a:gd name="connsiteX5" fmla="*/ 0 w 13666"/>
              <a:gd name="connsiteY5" fmla="*/ 6280 h 8650"/>
              <a:gd name="connsiteX6" fmla="*/ 8 w 13666"/>
              <a:gd name="connsiteY6" fmla="*/ 7 h 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66" h="8650">
                <a:moveTo>
                  <a:pt x="8" y="7"/>
                </a:moveTo>
                <a:lnTo>
                  <a:pt x="4257" y="0"/>
                </a:lnTo>
                <a:lnTo>
                  <a:pt x="13666" y="7295"/>
                </a:lnTo>
                <a:lnTo>
                  <a:pt x="10080" y="8642"/>
                </a:lnTo>
                <a:lnTo>
                  <a:pt x="10080" y="8650"/>
                </a:lnTo>
                <a:lnTo>
                  <a:pt x="0" y="6280"/>
                </a:lnTo>
                <a:lnTo>
                  <a:pt x="8" y="7"/>
                </a:lnTo>
                <a:close/>
              </a:path>
            </a:pathLst>
          </a:custGeom>
          <a:solidFill>
            <a:srgbClr val="091828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10" hasCustomPrompt="1"/>
          </p:nvPr>
        </p:nvSpPr>
        <p:spPr>
          <a:xfrm>
            <a:off x="690563" y="1022350"/>
            <a:ext cx="6899275" cy="1279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 17"/>
          <p:cNvSpPr/>
          <p:nvPr userDrawn="1"/>
        </p:nvSpPr>
        <p:spPr>
          <a:xfrm>
            <a:off x="1485265" y="2699385"/>
            <a:ext cx="7662545" cy="1462405"/>
          </a:xfrm>
          <a:custGeom>
            <a:avLst/>
            <a:gdLst>
              <a:gd name="connsiteX0" fmla="*/ 2173 w 12067"/>
              <a:gd name="connsiteY0" fmla="*/ 2303 h 2303"/>
              <a:gd name="connsiteX1" fmla="*/ 12067 w 12067"/>
              <a:gd name="connsiteY1" fmla="*/ 0 h 2303"/>
              <a:gd name="connsiteX2" fmla="*/ 0 w 12067"/>
              <a:gd name="connsiteY2" fmla="*/ 1638 h 2303"/>
              <a:gd name="connsiteX3" fmla="*/ 2173 w 12067"/>
              <a:gd name="connsiteY3" fmla="*/ 2303 h 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67" h="2303">
                <a:moveTo>
                  <a:pt x="2173" y="2303"/>
                </a:moveTo>
                <a:lnTo>
                  <a:pt x="12067" y="0"/>
                </a:lnTo>
                <a:lnTo>
                  <a:pt x="0" y="1638"/>
                </a:lnTo>
                <a:lnTo>
                  <a:pt x="2173" y="2303"/>
                </a:lnTo>
                <a:close/>
              </a:path>
            </a:pathLst>
          </a:custGeom>
          <a:solidFill>
            <a:srgbClr val="0814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9D9C70D-B7C8-466D-B87C-22D855EF72C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2021/5/7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任意多边形 5"/>
          <p:cNvSpPr/>
          <p:nvPr userDrawn="1"/>
        </p:nvSpPr>
        <p:spPr>
          <a:xfrm>
            <a:off x="-1270" y="3194050"/>
            <a:ext cx="3098800" cy="1631315"/>
          </a:xfrm>
          <a:custGeom>
            <a:avLst/>
            <a:gdLst>
              <a:gd name="connsiteX0" fmla="*/ 0 w 4880"/>
              <a:gd name="connsiteY0" fmla="*/ 0 h 2569"/>
              <a:gd name="connsiteX1" fmla="*/ 4880 w 4880"/>
              <a:gd name="connsiteY1" fmla="*/ 1439 h 2569"/>
              <a:gd name="connsiteX2" fmla="*/ 0 w 4880"/>
              <a:gd name="connsiteY2" fmla="*/ 2569 h 2569"/>
              <a:gd name="connsiteX3" fmla="*/ 0 w 4880"/>
              <a:gd name="connsiteY3" fmla="*/ 0 h 2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0" h="2569">
                <a:moveTo>
                  <a:pt x="0" y="0"/>
                </a:moveTo>
                <a:lnTo>
                  <a:pt x="4880" y="1439"/>
                </a:lnTo>
                <a:lnTo>
                  <a:pt x="0" y="2569"/>
                </a:lnTo>
                <a:lnTo>
                  <a:pt x="0" y="0"/>
                </a:lnTo>
                <a:close/>
              </a:path>
            </a:pathLst>
          </a:custGeom>
          <a:solidFill>
            <a:srgbClr val="2136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pic>
        <p:nvPicPr>
          <p:cNvPr id="11" name="图片 10" descr="学院logo-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278880" y="6299835"/>
            <a:ext cx="2679065" cy="421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 userDrawn="1"/>
        </p:nvSpPr>
        <p:spPr>
          <a:xfrm>
            <a:off x="4810760" y="4277995"/>
            <a:ext cx="4333240" cy="2584450"/>
          </a:xfrm>
          <a:custGeom>
            <a:avLst/>
            <a:gdLst>
              <a:gd name="connsiteX0" fmla="*/ 4341412 w 4351527"/>
              <a:gd name="connsiteY0" fmla="*/ 0 h 2584174"/>
              <a:gd name="connsiteX1" fmla="*/ 0 w 4351527"/>
              <a:gd name="connsiteY1" fmla="*/ 2576222 h 2584174"/>
              <a:gd name="connsiteX2" fmla="*/ 4349364 w 4351527"/>
              <a:gd name="connsiteY2" fmla="*/ 2584174 h 2584174"/>
              <a:gd name="connsiteX3" fmla="*/ 4341412 w 4351527"/>
              <a:gd name="connsiteY3" fmla="*/ 0 h 2584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1527" h="2584174">
                <a:moveTo>
                  <a:pt x="4341412" y="0"/>
                </a:moveTo>
                <a:lnTo>
                  <a:pt x="0" y="2576222"/>
                </a:lnTo>
                <a:lnTo>
                  <a:pt x="4349364" y="2584174"/>
                </a:lnTo>
                <a:cubicBezTo>
                  <a:pt x="4352014" y="1728083"/>
                  <a:pt x="4354665" y="871993"/>
                  <a:pt x="43414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39D10-08F4-46E3-B6F4-E3100A3775AB}" type="datetimeFigureOut">
              <a:rPr lang="zh-CN" altLang="en-US" smtClean="0"/>
              <a:pPr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B60F8-E777-4D86-907F-5375450AA5F1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 descr="学院logo-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278880" y="6299835"/>
            <a:ext cx="2679065" cy="4216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 userDrawn="1"/>
        </p:nvSpPr>
        <p:spPr>
          <a:xfrm>
            <a:off x="-25717" y="0"/>
            <a:ext cx="9173845" cy="6864350"/>
          </a:xfrm>
          <a:custGeom>
            <a:avLst/>
            <a:gdLst>
              <a:gd name="connsiteX0" fmla="*/ 40 w 14447"/>
              <a:gd name="connsiteY0" fmla="*/ 0 h 10810"/>
              <a:gd name="connsiteX1" fmla="*/ 14447 w 14447"/>
              <a:gd name="connsiteY1" fmla="*/ 2 h 10810"/>
              <a:gd name="connsiteX2" fmla="*/ 14435 w 14447"/>
              <a:gd name="connsiteY2" fmla="*/ 10810 h 10810"/>
              <a:gd name="connsiteX3" fmla="*/ 0 w 14447"/>
              <a:gd name="connsiteY3" fmla="*/ 10808 h 10810"/>
              <a:gd name="connsiteX4" fmla="*/ 40 w 14447"/>
              <a:gd name="connsiteY4" fmla="*/ 0 h 1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7" h="10810">
                <a:moveTo>
                  <a:pt x="40" y="0"/>
                </a:moveTo>
                <a:lnTo>
                  <a:pt x="14447" y="2"/>
                </a:lnTo>
                <a:lnTo>
                  <a:pt x="14435" y="10810"/>
                </a:lnTo>
                <a:lnTo>
                  <a:pt x="0" y="10808"/>
                </a:lnTo>
                <a:lnTo>
                  <a:pt x="40" y="0"/>
                </a:lnTo>
                <a:close/>
              </a:path>
            </a:pathLst>
          </a:custGeom>
          <a:solidFill>
            <a:srgbClr val="2B434D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1" name="任意多边形 10"/>
          <p:cNvSpPr/>
          <p:nvPr/>
        </p:nvSpPr>
        <p:spPr>
          <a:xfrm>
            <a:off x="-20955" y="1270"/>
            <a:ext cx="9158605" cy="6861810"/>
          </a:xfrm>
          <a:custGeom>
            <a:avLst/>
            <a:gdLst>
              <a:gd name="connsiteX0" fmla="*/ 37 w 14423"/>
              <a:gd name="connsiteY0" fmla="*/ 0 h 10806"/>
              <a:gd name="connsiteX1" fmla="*/ 14423 w 14423"/>
              <a:gd name="connsiteY1" fmla="*/ 5185 h 10806"/>
              <a:gd name="connsiteX2" fmla="*/ 7990 w 14423"/>
              <a:gd name="connsiteY2" fmla="*/ 10806 h 10806"/>
              <a:gd name="connsiteX3" fmla="*/ 0 w 14423"/>
              <a:gd name="connsiteY3" fmla="*/ 8370 h 10806"/>
              <a:gd name="connsiteX4" fmla="*/ 37 w 14423"/>
              <a:gd name="connsiteY4" fmla="*/ 0 h 10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23" h="10806">
                <a:moveTo>
                  <a:pt x="37" y="0"/>
                </a:moveTo>
                <a:lnTo>
                  <a:pt x="14423" y="5185"/>
                </a:lnTo>
                <a:lnTo>
                  <a:pt x="7990" y="10806"/>
                </a:lnTo>
                <a:lnTo>
                  <a:pt x="0" y="8370"/>
                </a:lnTo>
                <a:lnTo>
                  <a:pt x="37" y="0"/>
                </a:lnTo>
                <a:close/>
              </a:path>
            </a:pathLst>
          </a:custGeom>
          <a:solidFill>
            <a:srgbClr val="213644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0" name="任意多边形 9"/>
          <p:cNvSpPr/>
          <p:nvPr userDrawn="1"/>
        </p:nvSpPr>
        <p:spPr>
          <a:xfrm rot="16200000">
            <a:off x="3163571" y="879474"/>
            <a:ext cx="6864350" cy="5105400"/>
          </a:xfrm>
          <a:custGeom>
            <a:avLst/>
            <a:gdLst>
              <a:gd name="connsiteX0" fmla="*/ 0 w 10810"/>
              <a:gd name="connsiteY0" fmla="*/ 8029 h 8040"/>
              <a:gd name="connsiteX1" fmla="*/ 4 w 10810"/>
              <a:gd name="connsiteY1" fmla="*/ 0 h 8040"/>
              <a:gd name="connsiteX2" fmla="*/ 10810 w 10810"/>
              <a:gd name="connsiteY2" fmla="*/ 8040 h 8040"/>
              <a:gd name="connsiteX3" fmla="*/ 0 w 10810"/>
              <a:gd name="connsiteY3" fmla="*/ 8029 h 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10" h="8040">
                <a:moveTo>
                  <a:pt x="0" y="8029"/>
                </a:moveTo>
                <a:lnTo>
                  <a:pt x="4" y="0"/>
                </a:lnTo>
                <a:lnTo>
                  <a:pt x="10810" y="8040"/>
                </a:lnTo>
                <a:lnTo>
                  <a:pt x="0" y="8029"/>
                </a:lnTo>
                <a:close/>
              </a:path>
            </a:pathLst>
          </a:custGeom>
          <a:solidFill>
            <a:srgbClr val="050C1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9D9C70D-B7C8-466D-B87C-22D855EF72C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2021/5/7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F9045BA-9AC9-4435-A9A0-D822685BA71C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9D9C70D-B7C8-466D-B87C-22D855EF72C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2021/5/7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F9045BA-9AC9-4435-A9A0-D822685BA71C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9D9C70D-B7C8-466D-B87C-22D855EF72C6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2021/5/7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F9045BA-9AC9-4435-A9A0-D822685BA71C}" type="slidenum">
              <a:rPr lang="zh-CN" altLang="en-US" strike="noStrike" noProof="1" smtClean="0">
                <a:latin typeface="+mn-lt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slideLayout" Target="../slideLayouts/slideLayout3.xml"/><Relationship Id="rId1" Type="http://schemas.openxmlformats.org/officeDocument/2006/relationships/video" Target="file:///C:\Users\neil\Desktop\&#39033;&#30446;&#35838;&#27719;&#25253;\The%20relationship%20of%20COM%20and%20Moment.mp4" TargetMode="External"/><Relationship Id="rId5" Type="http://schemas.openxmlformats.org/officeDocument/2006/relationships/image" Target="../media/image9.png"/><Relationship Id="rId4" Type="http://schemas.microsoft.com/office/2007/relationships/media" Target="file:///F:\123\&#26426;&#22120;&#20154;&#23398;&#38498;&#39033;&#30446;&#35838;\&#39033;&#30446;&#35838;&#27719;&#25253;\The%20relationship%20of%20COM%20and%20Moment.mp4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805180" y="1802130"/>
            <a:ext cx="7533640" cy="1279525"/>
          </a:xfrm>
        </p:spPr>
        <p:txBody>
          <a:bodyPr/>
          <a:lstStyle/>
          <a:p>
            <a:pPr algn="dist">
              <a:lnSpc>
                <a:spcPct val="100000"/>
              </a:lnSpc>
              <a:buClrTx/>
              <a:buSzTx/>
              <a:buFontTx/>
            </a:pPr>
            <a:r>
              <a:rPr lang="zh-CN" altLang="en-US" sz="6000" b="1" dirty="0" smtClean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小船设计任务及思路</a:t>
            </a:r>
            <a:endParaRPr lang="zh-CN" altLang="en-US" sz="6000" b="1" dirty="0"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54399" y="4434233"/>
            <a:ext cx="388961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charset="-122"/>
              </a:rPr>
              <a:t>汪</a:t>
            </a:r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charset="-122"/>
              </a:rPr>
              <a:t>保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6055" y="267335"/>
            <a:ext cx="11304270" cy="460375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          </a:t>
            </a:r>
            <a:r>
              <a:rPr lang="zh-CN" alt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宁波工程学院机器人学院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3701415" y="490855"/>
            <a:ext cx="5285105" cy="27305"/>
          </a:xfrm>
          <a:prstGeom prst="line">
            <a:avLst/>
          </a:prstGeom>
          <a:ln w="12700" cmpd="sng">
            <a:solidFill>
              <a:schemeClr val="accent3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33020" y="496570"/>
            <a:ext cx="532130" cy="8255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241" y="174058"/>
            <a:ext cx="7886700" cy="931412"/>
          </a:xfrm>
        </p:spPr>
        <p:txBody>
          <a:bodyPr/>
          <a:lstStyle/>
          <a:p>
            <a:pPr algn="ctr"/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</a:rPr>
              <a:t>小船设计要求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3563" y="1308830"/>
            <a:ext cx="7886700" cy="4351338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zh-CN" dirty="0" smtClean="0"/>
              <a:t>当船满载时，必须能够漂浮起来</a:t>
            </a:r>
            <a:r>
              <a:rPr lang="en-US" altLang="zh-CN" dirty="0" smtClean="0"/>
              <a:t>;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zh-CN" dirty="0" smtClean="0"/>
              <a:t>当船满载漂浮时，船的甲板应平行于水面</a:t>
            </a:r>
            <a:r>
              <a:rPr lang="en-US" altLang="zh-CN" dirty="0" smtClean="0"/>
              <a:t>;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dirty="0" smtClean="0"/>
              <a:t> </a:t>
            </a:r>
            <a:r>
              <a:rPr lang="zh-CN" altLang="zh-CN" dirty="0" smtClean="0"/>
              <a:t>满载船的稳定消失角（</a:t>
            </a:r>
            <a:r>
              <a:rPr lang="en-US" altLang="zh-CN" dirty="0" smtClean="0"/>
              <a:t>AVS</a:t>
            </a:r>
            <a:r>
              <a:rPr lang="zh-CN" altLang="zh-CN" dirty="0" smtClean="0"/>
              <a:t>）应该是</a:t>
            </a:r>
            <a:r>
              <a:rPr lang="en-US" altLang="zh-CN" b="1" i="1" u="sng" dirty="0" smtClean="0"/>
              <a:t>135</a:t>
            </a:r>
            <a:r>
              <a:rPr lang="zh-CN" altLang="zh-CN" dirty="0" smtClean="0"/>
              <a:t>度（允许</a:t>
            </a:r>
            <a:r>
              <a:rPr lang="zh-CN" altLang="zh-CN" b="1" i="1" u="sng" dirty="0" smtClean="0"/>
              <a:t>±</a:t>
            </a:r>
            <a:r>
              <a:rPr lang="en-US" altLang="zh-CN" b="1" i="1" u="sng" dirty="0" smtClean="0"/>
              <a:t>10</a:t>
            </a:r>
            <a:r>
              <a:rPr lang="zh-CN" altLang="zh-CN" dirty="0" smtClean="0"/>
              <a:t>度误差）</a:t>
            </a:r>
            <a:r>
              <a:rPr lang="en-US" altLang="zh-CN" dirty="0" smtClean="0"/>
              <a:t>;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dirty="0" smtClean="0"/>
              <a:t> </a:t>
            </a:r>
            <a:r>
              <a:rPr lang="zh-CN" altLang="zh-CN" dirty="0" smtClean="0"/>
              <a:t>船模应具有至少</a:t>
            </a:r>
            <a:r>
              <a:rPr lang="en-US" altLang="zh-CN" b="1" i="1" u="sng" dirty="0" smtClean="0"/>
              <a:t>0.2 N-m</a:t>
            </a:r>
            <a:r>
              <a:rPr lang="zh-CN" altLang="zh-CN" dirty="0" smtClean="0"/>
              <a:t>的最大恢复力矩；</a:t>
            </a:r>
            <a:endParaRPr lang="en-US" altLang="zh-CN" dirty="0" smtClean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zh-CN" dirty="0" smtClean="0"/>
              <a:t>船体设计应尽可能利于在水中快速行进。</a:t>
            </a:r>
            <a:endParaRPr lang="en-US" altLang="zh-CN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533116" y="911225"/>
            <a:ext cx="7886700" cy="4351338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）让船浮起来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          </a:t>
            </a:r>
            <a:r>
              <a:rPr lang="zh-CN" altLang="en-US" dirty="0" smtClean="0"/>
              <a:t>浮力公式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           </a:t>
            </a:r>
          </a:p>
          <a:p>
            <a:pPr>
              <a:buNone/>
            </a:pPr>
            <a:r>
              <a:rPr lang="en-US" altLang="zh-CN" dirty="0" smtClean="0"/>
              <a:t>              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a</a:t>
            </a:r>
            <a:r>
              <a:rPr lang="zh-CN" altLang="en-US" dirty="0" smtClean="0"/>
              <a:t>）如何算</a:t>
            </a:r>
            <a:r>
              <a:rPr lang="en-US" altLang="zh-CN" dirty="0" smtClean="0"/>
              <a:t>v</a:t>
            </a:r>
            <a:r>
              <a:rPr lang="zh-CN" altLang="en-US" baseline="-25000" dirty="0" smtClean="0"/>
              <a:t>排 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>
              <a:buNone/>
            </a:pPr>
            <a:r>
              <a:rPr lang="en-US" altLang="zh-CN" baseline="-25000" dirty="0" smtClean="0"/>
              <a:t> </a:t>
            </a:r>
            <a:r>
              <a:rPr lang="en-US" altLang="zh-CN" dirty="0" smtClean="0"/>
              <a:t>             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b</a:t>
            </a:r>
            <a:r>
              <a:rPr lang="zh-CN" altLang="en-US" dirty="0" smtClean="0"/>
              <a:t>）</a:t>
            </a:r>
            <a:r>
              <a:rPr lang="en-US" altLang="zh-CN" dirty="0" smtClean="0"/>
              <a:t> </a:t>
            </a:r>
            <a:r>
              <a:rPr lang="zh-CN" altLang="en-US" dirty="0" smtClean="0"/>
              <a:t>如何算质量</a:t>
            </a:r>
            <a:r>
              <a:rPr lang="en-US" altLang="zh-CN" dirty="0" smtClean="0"/>
              <a:t>m  </a:t>
            </a:r>
            <a:r>
              <a:rPr lang="zh-CN" altLang="en-US" dirty="0" smtClean="0"/>
              <a:t>？</a:t>
            </a:r>
            <a:endParaRPr lang="en-US" altLang="zh-CN" baseline="-25000" dirty="0" smtClean="0"/>
          </a:p>
          <a:p>
            <a:pPr>
              <a:buNone/>
            </a:pPr>
            <a:r>
              <a:rPr lang="en-US" altLang="zh-CN" dirty="0" smtClean="0"/>
              <a:t>   </a:t>
            </a:r>
            <a:endParaRPr lang="zh-CN" altLang="en-US" dirty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1642991" y="2033659"/>
          <a:ext cx="5696657" cy="1009792"/>
        </p:xfrm>
        <a:graphic>
          <a:graphicData uri="http://schemas.openxmlformats.org/presentationml/2006/ole">
            <p:oleObj spid="_x0000_s1027" name="Equation" r:id="rId3" imgW="1054080" imgH="2412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                  </a:t>
            </a:r>
            <a:r>
              <a:rPr lang="zh-CN" altLang="en-US" dirty="0" smtClean="0"/>
              <a:t>如何计算</a:t>
            </a:r>
            <a:r>
              <a:rPr lang="en-US" altLang="zh-CN" dirty="0" smtClean="0"/>
              <a:t>v</a:t>
            </a:r>
            <a:r>
              <a:rPr lang="zh-CN" altLang="en-US" baseline="-25000" dirty="0" smtClean="0"/>
              <a:t>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/>
              <a:t>二重积分或者三重积分求体积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neil\AppData\Local\Temp\WeChat Files\1ad7a99d377e2276b6bdb230a6119a2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1695" y="1544614"/>
            <a:ext cx="3439236" cy="1457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 descr="C:\Users\neil\AppData\Local\Temp\WeChat Files\f46bac5caa8d7557689f05e7828f29b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40909" y="1453960"/>
            <a:ext cx="4056522" cy="1467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 descr="C:\Users\neil\AppData\Local\Temp\WeChat Files\0283bb73da2d79bcde4a6d9dfc5810f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82775" y="3284329"/>
            <a:ext cx="4572000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/>
          <p:nvPr/>
        </p:nvSpPr>
        <p:spPr>
          <a:xfrm>
            <a:off x="3453033" y="391952"/>
            <a:ext cx="45172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如何计算质量</a:t>
            </a:r>
            <a:endParaRPr lang="zh-CN" alt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019868" y="5295331"/>
            <a:ext cx="3643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曲线积分，求长度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如何保证</a:t>
            </a:r>
            <a:r>
              <a:rPr lang="zh-CN" altLang="zh-CN" dirty="0" smtClean="0"/>
              <a:t>稳定消失角是</a:t>
            </a:r>
            <a:r>
              <a:rPr lang="en-US" altLang="zh-CN" b="1" i="1" u="sng" dirty="0" smtClean="0"/>
              <a:t>135</a:t>
            </a:r>
            <a:r>
              <a:rPr lang="zh-CN" altLang="zh-CN" dirty="0" smtClean="0"/>
              <a:t>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计算重心</a:t>
            </a:r>
            <a:endParaRPr lang="en-US" altLang="zh-CN" dirty="0" smtClean="0"/>
          </a:p>
          <a:p>
            <a:r>
              <a:rPr lang="zh-CN" altLang="en-US" dirty="0" smtClean="0"/>
              <a:t>计算浮心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3900" y="376555"/>
            <a:ext cx="7886700" cy="1833245"/>
          </a:xfrm>
        </p:spPr>
        <p:txBody>
          <a:bodyPr/>
          <a:lstStyle/>
          <a:p>
            <a:pPr algn="ctr"/>
            <a:r>
              <a:rPr lang="zh-CN" altLang="en-US" sz="4400" b="1" smtClean="0"/>
              <a:t>复原</a:t>
            </a:r>
            <a:r>
              <a:rPr lang="zh-CN" altLang="en-US" sz="4400" b="1" dirty="0" smtClean="0"/>
              <a:t>力矩</a:t>
            </a:r>
            <a:r>
              <a:rPr lang="zh-CN" altLang="en-US" sz="4400" b="1" smtClean="0"/>
              <a:t>变化</a:t>
            </a:r>
            <a:r>
              <a:rPr lang="zh-CN" altLang="en-US" sz="4400" b="1" smtClean="0"/>
              <a:t>图</a:t>
            </a:r>
            <a:endParaRPr lang="zh-CN" altLang="en-US" sz="4400" b="1" dirty="0" smtClean="0"/>
          </a:p>
        </p:txBody>
      </p:sp>
      <p:pic>
        <p:nvPicPr>
          <p:cNvPr id="7" name="图片 6" descr="ouput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0215" y="2452370"/>
            <a:ext cx="4191000" cy="2693670"/>
          </a:xfrm>
          <a:prstGeom prst="rect">
            <a:avLst/>
          </a:prstGeom>
        </p:spPr>
      </p:pic>
      <p:pic>
        <p:nvPicPr>
          <p:cNvPr id="9" name="The relationship of COM and Moment.mp4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="" xmlns:p14="http://schemas.microsoft.com/office/powerpoint/2010/main" r:link="rId4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4874260" y="2451735"/>
            <a:ext cx="3592195" cy="2694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6764" y="0"/>
            <a:ext cx="7886700" cy="1325563"/>
          </a:xfrm>
        </p:spPr>
        <p:txBody>
          <a:bodyPr/>
          <a:lstStyle/>
          <a:p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201002"/>
            <a:ext cx="7886700" cy="5656997"/>
          </a:xfrm>
        </p:spPr>
        <p:txBody>
          <a:bodyPr/>
          <a:lstStyle/>
          <a:p>
            <a:pPr>
              <a:buNone/>
            </a:pPr>
            <a:r>
              <a:rPr lang="zh-CN" altLang="zh-CN" dirty="0" smtClean="0"/>
              <a:t>以小船最低点为坐标原点，垂直向上为</a:t>
            </a:r>
            <a:r>
              <a:rPr lang="en-US" altLang="zh-CN" dirty="0" smtClean="0"/>
              <a:t>Z</a:t>
            </a:r>
            <a:r>
              <a:rPr lang="zh-CN" altLang="zh-CN" dirty="0" smtClean="0"/>
              <a:t>轴，船头至船尾的连线为</a:t>
            </a:r>
            <a:r>
              <a:rPr lang="en-US" altLang="zh-CN" dirty="0" smtClean="0"/>
              <a:t>Y</a:t>
            </a:r>
            <a:r>
              <a:rPr lang="zh-CN" altLang="zh-CN" dirty="0" smtClean="0"/>
              <a:t>轴建立直角坐标系假设船体底部曲面方程为</a:t>
            </a:r>
            <a:r>
              <a:rPr lang="en-US" altLang="zh-CN" dirty="0" smtClean="0"/>
              <a:t> </a:t>
            </a:r>
          </a:p>
          <a:p>
            <a:pPr>
              <a:buNone/>
            </a:pPr>
            <a:r>
              <a:rPr lang="zh-CN" altLang="zh-CN" dirty="0" smtClean="0"/>
              <a:t>船高为</a:t>
            </a:r>
            <a:r>
              <a:rPr lang="en-US" altLang="zh-CN" dirty="0" smtClean="0"/>
              <a:t> H</a:t>
            </a:r>
            <a:r>
              <a:rPr lang="zh-CN" altLang="zh-CN" dirty="0" smtClean="0"/>
              <a:t>，桅杆长度</a:t>
            </a:r>
            <a:r>
              <a:rPr lang="en-US" altLang="zh-CN" dirty="0" smtClean="0"/>
              <a:t>0.5m</a:t>
            </a:r>
            <a:r>
              <a:rPr lang="zh-CN" altLang="zh-CN" dirty="0" smtClean="0"/>
              <a:t>，质量</a:t>
            </a:r>
            <a:r>
              <a:rPr lang="en-US" altLang="zh-CN" dirty="0" smtClean="0"/>
              <a:t>0.1kg</a:t>
            </a:r>
            <a:r>
              <a:rPr lang="zh-CN" altLang="zh-CN" dirty="0" smtClean="0"/>
              <a:t>，重物的底面半径</a:t>
            </a:r>
            <a:r>
              <a:rPr lang="en-US" altLang="zh-CN" dirty="0" smtClean="0"/>
              <a:t>0.02m</a:t>
            </a:r>
            <a:r>
              <a:rPr lang="zh-CN" altLang="zh-CN" dirty="0" smtClean="0"/>
              <a:t>，质量</a:t>
            </a:r>
            <a:r>
              <a:rPr lang="en-US" altLang="zh-CN" dirty="0" smtClean="0"/>
              <a:t>1kg</a:t>
            </a:r>
            <a:r>
              <a:rPr lang="zh-CN" altLang="zh-CN" dirty="0" smtClean="0"/>
              <a:t>，材料面密度为</a:t>
            </a:r>
            <a:r>
              <a:rPr lang="en-US" altLang="zh-CN" dirty="0" smtClean="0"/>
              <a:t>0.1458kg/m</a:t>
            </a:r>
            <a:r>
              <a:rPr lang="en-US" altLang="zh-CN" baseline="30000" dirty="0" smtClean="0"/>
              <a:t>2</a:t>
            </a:r>
            <a:endParaRPr lang="zh-CN" altLang="zh-CN" dirty="0" smtClean="0"/>
          </a:p>
          <a:p>
            <a:pPr>
              <a:buNone/>
            </a:pPr>
            <a:r>
              <a:rPr lang="zh-CN" altLang="zh-CN" dirty="0" smtClean="0"/>
              <a:t>求</a:t>
            </a:r>
          </a:p>
          <a:p>
            <a:pPr>
              <a:buNone/>
            </a:pPr>
            <a:r>
              <a:rPr lang="en-US" altLang="zh-CN" dirty="0" smtClean="0"/>
              <a:t>1</a:t>
            </a:r>
            <a:r>
              <a:rPr lang="zh-CN" altLang="zh-CN" dirty="0" smtClean="0"/>
              <a:t>、龙骨方程</a:t>
            </a:r>
          </a:p>
          <a:p>
            <a:pPr>
              <a:buNone/>
            </a:pPr>
            <a:r>
              <a:rPr lang="en-US" altLang="zh-CN" dirty="0" smtClean="0"/>
              <a:t>2</a:t>
            </a:r>
            <a:r>
              <a:rPr lang="zh-CN" altLang="zh-CN" dirty="0" smtClean="0"/>
              <a:t>、任意截面方程</a:t>
            </a:r>
          </a:p>
          <a:p>
            <a:pPr>
              <a:buNone/>
            </a:pPr>
            <a:r>
              <a:rPr lang="en-US" altLang="zh-CN" dirty="0" smtClean="0"/>
              <a:t>3</a:t>
            </a:r>
            <a:r>
              <a:rPr lang="zh-CN" altLang="zh-CN" dirty="0" smtClean="0"/>
              <a:t>、甲板方程</a:t>
            </a:r>
          </a:p>
          <a:p>
            <a:pPr>
              <a:buNone/>
            </a:pPr>
            <a:r>
              <a:rPr lang="en-US" altLang="zh-CN" dirty="0" smtClean="0"/>
              <a:t>4</a:t>
            </a:r>
            <a:r>
              <a:rPr lang="zh-CN" altLang="zh-CN" dirty="0" smtClean="0"/>
              <a:t>、假设</a:t>
            </a:r>
            <a:r>
              <a:rPr lang="en-US" altLang="zh-CN" dirty="0" smtClean="0"/>
              <a:t>A=1765</a:t>
            </a:r>
            <a:r>
              <a:rPr lang="zh-CN" altLang="zh-CN" dirty="0" smtClean="0"/>
              <a:t>，</a:t>
            </a:r>
            <a:r>
              <a:rPr lang="en-US" altLang="zh-CN" dirty="0" smtClean="0"/>
              <a:t>B=148</a:t>
            </a:r>
            <a:r>
              <a:rPr lang="zh-CN" altLang="zh-CN" dirty="0" smtClean="0"/>
              <a:t>，</a:t>
            </a:r>
            <a:r>
              <a:rPr lang="en-US" altLang="zh-CN" dirty="0" smtClean="0"/>
              <a:t>H=0.2</a:t>
            </a:r>
            <a:endParaRPr lang="zh-CN" altLang="zh-CN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7649" name="Object 1"/>
          <p:cNvGraphicFramePr>
            <a:graphicFrameLocks noChangeAspect="1"/>
          </p:cNvGraphicFramePr>
          <p:nvPr/>
        </p:nvGraphicFramePr>
        <p:xfrm>
          <a:off x="3848668" y="1978925"/>
          <a:ext cx="1883393" cy="491320"/>
        </p:xfrm>
        <a:graphic>
          <a:graphicData uri="http://schemas.openxmlformats.org/presentationml/2006/ole">
            <p:oleObj spid="_x0000_s27649" name="Equation" r:id="rId3" imgW="87624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86854"/>
            <a:ext cx="7886700" cy="5590109"/>
          </a:xfrm>
        </p:spPr>
        <p:txBody>
          <a:bodyPr/>
          <a:lstStyle/>
          <a:p>
            <a:pPr>
              <a:buNone/>
            </a:pPr>
            <a:r>
              <a:rPr lang="en-US" altLang="zh-CN" dirty="0" smtClean="0"/>
              <a:t>4.1</a:t>
            </a:r>
            <a:r>
              <a:rPr lang="zh-CN" altLang="zh-CN" dirty="0" smtClean="0"/>
              <a:t>求吃水线深度</a:t>
            </a:r>
          </a:p>
          <a:p>
            <a:pPr>
              <a:buNone/>
            </a:pPr>
            <a:r>
              <a:rPr lang="en-US" altLang="zh-CN" dirty="0" smtClean="0"/>
              <a:t>4.2</a:t>
            </a:r>
            <a:r>
              <a:rPr lang="zh-CN" altLang="zh-CN" dirty="0" smtClean="0"/>
              <a:t>求重心</a:t>
            </a:r>
          </a:p>
          <a:p>
            <a:pPr>
              <a:buNone/>
            </a:pPr>
            <a:r>
              <a:rPr lang="en-US" altLang="zh-CN" dirty="0" smtClean="0"/>
              <a:t>5.1</a:t>
            </a:r>
            <a:r>
              <a:rPr lang="zh-CN" altLang="zh-CN" dirty="0" smtClean="0"/>
              <a:t>将小船向</a:t>
            </a:r>
            <a:r>
              <a:rPr lang="en-US" altLang="zh-CN" dirty="0" smtClean="0"/>
              <a:t>x</a:t>
            </a:r>
            <a:r>
              <a:rPr lang="zh-CN" altLang="zh-CN" dirty="0" smtClean="0"/>
              <a:t>轴倾斜</a:t>
            </a:r>
            <a:r>
              <a:rPr lang="en-US" altLang="zh-CN" dirty="0" smtClean="0"/>
              <a:t>140</a:t>
            </a:r>
            <a:r>
              <a:rPr lang="zh-CN" altLang="zh-CN" dirty="0" smtClean="0"/>
              <a:t>°求出吃水线所在平面的方程</a:t>
            </a:r>
          </a:p>
          <a:p>
            <a:pPr>
              <a:buNone/>
            </a:pPr>
            <a:r>
              <a:rPr lang="en-US" altLang="zh-CN" dirty="0" smtClean="0"/>
              <a:t>5.2</a:t>
            </a:r>
            <a:r>
              <a:rPr lang="zh-CN" altLang="zh-CN" dirty="0" smtClean="0"/>
              <a:t>将小船向</a:t>
            </a:r>
            <a:r>
              <a:rPr lang="en-US" altLang="zh-CN" dirty="0" smtClean="0"/>
              <a:t>x</a:t>
            </a:r>
            <a:r>
              <a:rPr lang="zh-CN" altLang="zh-CN" dirty="0" smtClean="0"/>
              <a:t>轴倾斜</a:t>
            </a:r>
            <a:r>
              <a:rPr lang="en-US" altLang="zh-CN" dirty="0" smtClean="0"/>
              <a:t>140</a:t>
            </a:r>
            <a:r>
              <a:rPr lang="zh-CN" altLang="zh-CN" dirty="0" smtClean="0"/>
              <a:t>°，求浮心及复原力矩</a:t>
            </a:r>
          </a:p>
          <a:p>
            <a:pPr>
              <a:buNone/>
            </a:pPr>
            <a:r>
              <a:rPr lang="en-US" altLang="zh-CN" dirty="0" smtClean="0"/>
              <a:t>6.1</a:t>
            </a:r>
            <a:r>
              <a:rPr lang="zh-CN" altLang="zh-CN" dirty="0" smtClean="0"/>
              <a:t>画出重物质量与吃水线的曲线图</a:t>
            </a:r>
          </a:p>
          <a:p>
            <a:pPr>
              <a:buNone/>
            </a:pPr>
            <a:r>
              <a:rPr lang="en-US" altLang="zh-CN" dirty="0" smtClean="0"/>
              <a:t>6.2</a:t>
            </a:r>
            <a:r>
              <a:rPr lang="zh-CN" altLang="zh-CN" dirty="0" smtClean="0"/>
              <a:t>画出船长、宽、高分别与复原力矩曲线图</a:t>
            </a:r>
          </a:p>
          <a:p>
            <a:pPr>
              <a:buNone/>
            </a:pPr>
            <a:r>
              <a:rPr lang="en-US" altLang="zh-CN" dirty="0" smtClean="0"/>
              <a:t>6.3 </a:t>
            </a:r>
            <a:r>
              <a:rPr lang="zh-CN" altLang="zh-CN" dirty="0" smtClean="0"/>
              <a:t>画出重物质量与</a:t>
            </a:r>
            <a:r>
              <a:rPr lang="zh-CN" altLang="zh-CN" dirty="0" smtClean="0"/>
              <a:t>重心</a:t>
            </a:r>
            <a:r>
              <a:rPr lang="zh-CN" altLang="en-US" dirty="0" smtClean="0"/>
              <a:t>高度坐标</a:t>
            </a:r>
            <a:r>
              <a:rPr lang="zh-CN" altLang="zh-CN" dirty="0" smtClean="0"/>
              <a:t>的</a:t>
            </a:r>
            <a:r>
              <a:rPr lang="zh-CN" altLang="zh-CN" dirty="0" smtClean="0"/>
              <a:t>曲线图（曲线图的纵横坐标表示重心</a:t>
            </a:r>
            <a:r>
              <a:rPr lang="zh-CN" altLang="en-US" dirty="0" smtClean="0"/>
              <a:t>高度</a:t>
            </a:r>
            <a:r>
              <a:rPr lang="zh-CN" altLang="zh-CN" dirty="0" smtClean="0"/>
              <a:t>坐标，曲线上的点的大小表示质量）</a:t>
            </a:r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学院logo-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47552" y="3332563"/>
            <a:ext cx="4635500" cy="72961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090972" y="2415876"/>
            <a:ext cx="3725435" cy="1015663"/>
          </a:xfrm>
          <a:prstGeom prst="rect">
            <a:avLst/>
          </a:prstGeom>
          <a:noFill/>
          <a:ln>
            <a:noFill/>
          </a:ln>
          <a:effectLst>
            <a:glow rad="1905000">
              <a:schemeClr val="bg1">
                <a:alpha val="95000"/>
              </a:schemeClr>
            </a:glow>
          </a:effectLst>
        </p:spPr>
        <p:txBody>
          <a:bodyPr wrap="square" rtlCol="0" anchor="t">
            <a:spAutoFit/>
          </a:bodyPr>
          <a:lstStyle/>
          <a:p>
            <a:pPr algn="ctr" fontAlgn="base"/>
            <a:r>
              <a:rPr lang="en-US" altLang="zh-CN" sz="6000" b="1" strike="noStrike" noProof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ea typeface="+mn-ea"/>
                <a:cs typeface="+mn-cs"/>
              </a:rPr>
              <a:t>THANKS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106654" y="2638860"/>
            <a:ext cx="0" cy="1387406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75f459b3-240f-4bc8-8827-58f9895947a4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318</Words>
  <Application>Microsoft Office PowerPoint</Application>
  <PresentationFormat>全屏显示(4:3)</PresentationFormat>
  <Paragraphs>41</Paragraphs>
  <Slides>10</Slides>
  <Notes>0</Notes>
  <HiddenSlides>0</HiddenSlides>
  <MMClips>1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Office 主题</vt:lpstr>
      <vt:lpstr>Equation</vt:lpstr>
      <vt:lpstr>幻灯片 1</vt:lpstr>
      <vt:lpstr>小船设计要求</vt:lpstr>
      <vt:lpstr>幻灯片 3</vt:lpstr>
      <vt:lpstr>                   如何计算v排</vt:lpstr>
      <vt:lpstr>幻灯片 5</vt:lpstr>
      <vt:lpstr>如何保证稳定消失角是135度</vt:lpstr>
      <vt:lpstr>复原力矩变化图</vt:lpstr>
      <vt:lpstr>作业</vt:lpstr>
      <vt:lpstr>幻灯片 9</vt:lpstr>
      <vt:lpstr>幻灯片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Smile</dc:creator>
  <cp:lastModifiedBy>neil</cp:lastModifiedBy>
  <cp:revision>187</cp:revision>
  <dcterms:created xsi:type="dcterms:W3CDTF">2017-08-03T09:01:00Z</dcterms:created>
  <dcterms:modified xsi:type="dcterms:W3CDTF">2021-05-07T08:34:39Z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2052-11.1.0.9828</vt:lpwstr>
  </property>
</Properties>
</file>